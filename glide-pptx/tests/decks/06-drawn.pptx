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cripts" descr="glide-pptx:Subscripts"/>
          <p:cNvSpPr/>
          <p:nvPr/>
        </p:nvSpPr>
        <p:spPr>
          <a:xfrm>
            <a:off x="381000" y="5080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l" lvl="0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DejaVu Sans Mono"/>
                <a:cs typeface="DejaVu Sans Mono"/>
              </a:rPr>
              <a:t>(v</a:t>
            </a:r>
            <a:r>
              <a:rPr lang="en-US" sz="2800" baseline="-6000" dirty="0">
                <a:solidFill>
                  <a:srgbClr val="000000"/>
                </a:solidFill>
                <a:latin typeface="DejaVu Sans Mono"/>
                <a:cs typeface="DejaVu Sans Mono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DejaVu Sans Mono"/>
                <a:cs typeface="DejaVu Sans Mono"/>
              </a:rPr>
              <a:t>) = update(a, x</a:t>
            </a:r>
            <a:r>
              <a:rPr lang="en-US" sz="2800" baseline="-6000" dirty="0">
                <a:solidFill>
                  <a:srgbClr val="000000"/>
                </a:solidFill>
                <a:latin typeface="DejaVu Sans Mono"/>
                <a:cs typeface="DejaVu Sans Mono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DejaVu Sans Mono"/>
                <a:cs typeface="DejaVu Sans Mono"/>
              </a:rPr>
              <a:t>)</a:t>
            </a:r>
          </a:p>
        </p:txBody>
      </p:sp>
      <p:sp>
        <p:nvSpPr>
          <p:cNvPr id="3" name="Superscripts" descr="glide-pptx:Superscripts"/>
          <p:cNvSpPr/>
          <p:nvPr/>
        </p:nvSpPr>
        <p:spPr>
          <a:xfrm>
            <a:off x="381000" y="17780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l" lvl="0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DejaVu Sans"/>
                <a:cs typeface="DejaVu Sans"/>
              </a:rPr>
              <a:t>x</a:t>
            </a:r>
            <a:r>
              <a:rPr lang="en-US" sz="3200" baseline="30000" dirty="0">
                <a:solidFill>
                  <a:srgbClr val="000000"/>
                </a:solidFill>
                <a:latin typeface="DejaVu Sans"/>
                <a:cs typeface="DejaVu Sans"/>
              </a:rPr>
              <a:t>2</a:t>
            </a:r>
            <a:r>
              <a:rPr lang="en-US" sz="3200" dirty="0">
                <a:solidFill>
                  <a:srgbClr val="000000"/>
                </a:solidFill>
                <a:latin typeface="DejaVu Sans"/>
                <a:cs typeface="DejaVu Sans"/>
              </a:rPr>
              <a:t> + y</a:t>
            </a:r>
            <a:r>
              <a:rPr lang="en-US" sz="3200" baseline="30000" dirty="0">
                <a:solidFill>
                  <a:srgbClr val="000000"/>
                </a:solidFill>
                <a:latin typeface="DejaVu Sans"/>
                <a:cs typeface="DejaVu Sans"/>
              </a:rPr>
              <a:t>2</a:t>
            </a:r>
          </a:p>
        </p:txBody>
      </p:sp>
      <p:sp>
        <p:nvSpPr>
          <p:cNvPr id="4" name="Caps" descr="glide-pptx:Caps"/>
          <p:cNvSpPr/>
          <p:nvPr/>
        </p:nvSpPr>
        <p:spPr>
          <a:xfrm>
            <a:off x="381000" y="30480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l" lvl="0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cap="all" dirty="0">
                <a:solidFill>
                  <a:srgbClr val="000000"/>
                </a:solidFill>
                <a:latin typeface="DejaVu Sans"/>
                <a:cs typeface="DejaVu Sans"/>
              </a:rPr>
              <a:t>small caps here</a:t>
            </a:r>
          </a:p>
        </p:txBody>
      </p:sp>
      <p:sp>
        <p:nvSpPr>
          <p:cNvPr id="5" name="Struck" descr="glide-pptx:Struck"/>
          <p:cNvSpPr/>
          <p:nvPr/>
        </p:nvSpPr>
        <p:spPr>
          <a:xfrm>
            <a:off x="381000" y="40640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l" lvl="0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strike="sngStrike" dirty="0">
                <a:solidFill>
                  <a:srgbClr val="000000"/>
                </a:solidFill>
                <a:latin typeface="DejaVu Sans"/>
                <a:cs typeface="DejaVu Sans"/>
              </a:rPr>
              <a:t>struck through</a:t>
            </a:r>
          </a:p>
        </p:txBody>
      </p:sp>
      <p:sp>
        <p:nvSpPr>
          <p:cNvPr id="6" name="Spaced" descr="glide-pptx:Spaced"/>
          <p:cNvSpPr/>
          <p:nvPr/>
        </p:nvSpPr>
        <p:spPr>
          <a:xfrm>
            <a:off x="381000" y="50800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l" lvl="0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spc="300" dirty="0">
                <a:solidFill>
                  <a:srgbClr val="000000"/>
                </a:solidFill>
                <a:latin typeface="DejaVu Sans"/>
                <a:cs typeface="DejaVu Sans"/>
              </a:rPr>
              <a:t>l e t t e r s</a:t>
            </a:r>
          </a:p>
        </p:txBody>
      </p:sp>
      <p:sp>
        <p:nvSpPr>
          <p:cNvPr id="7" name="Bubble" descr="glide-pptx:Bubble"/>
          <p:cNvSpPr/>
          <p:nvPr/>
        </p:nvSpPr>
        <p:spPr>
          <a:xfrm>
            <a:off x="381000" y="5842000"/>
            <a:ext cx="3302000" cy="762000"/>
          </a:xfrm>
          <a:custGeom>
            <a:avLst/>
            <a:gdLst/>
            <a:ahLst/>
            <a:cxnLst/>
            <a:rect l="0" t="0" r="r" b="b"/>
            <a:pathLst>
              <a:path w="3302000" h="762000">
                <a:moveTo>
                  <a:pt x="0" y="0"/>
                </a:moveTo>
                <a:lnTo>
                  <a:pt x="3302000" y="0"/>
                </a:lnTo>
                <a:lnTo>
                  <a:pt x="3302000" y="599722"/>
                </a:lnTo>
                <a:lnTo>
                  <a:pt x="917222" y="599722"/>
                </a:lnTo>
                <a:lnTo>
                  <a:pt x="458611" y="762000"/>
                </a:lnTo>
                <a:lnTo>
                  <a:pt x="305741" y="599722"/>
                </a:lnTo>
                <a:lnTo>
                  <a:pt x="0" y="599722"/>
                </a:lnTo>
              </a:path>
            </a:pathLst>
          </a:custGeom>
          <a:solidFill>
            <a:srgbClr val="FFE599"/>
          </a:solidFill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l" lvl="0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DejaVu Sans"/>
                <a:cs typeface="DejaVu Sans"/>
              </a:rPr>
              <a:t>in a bubble</a:t>
            </a:r>
          </a:p>
        </p:txBody>
      </p:sp>
      <p:sp>
        <p:nvSpPr>
          <p:cNvPr id="8" name="Spacing" descr="glide-pptx:Spacing"/>
          <p:cNvSpPr/>
          <p:nvPr/>
        </p:nvSpPr>
        <p:spPr>
          <a:xfrm>
            <a:off x="5715000" y="508000"/>
            <a:ext cx="3048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l" lvl="0"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DejaVu Sans"/>
                <a:cs typeface="DejaVu Sans"/>
              </a:rPr>
              <a:t>one and a half</a:t>
            </a:r>
          </a:p>
          <a:p>
            <a:pPr algn="l" lvl="0"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DejaVu Sans"/>
                <a:cs typeface="DejaVu Sans"/>
              </a:rPr>
              <a:t>lines apart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ide-pptx">
  <a:themeElements>
    <a:clrScheme name="glide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lide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lide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